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4eb4ac48b747a8" /><Relationship Type="http://schemas.openxmlformats.org/officeDocument/2006/relationships/extended-properties" Target="/docProps/app.xml" Id="R6420fc5c36084591" /><Relationship Type="http://schemas.openxmlformats.org/officeDocument/2006/relationships/officeDocument" Target="/ppt/presentation.xml" Id="R74dd942fa62a45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bda878e8b34334"/>
  </p:sldMasterIdLst>
  <p:notesMasterIdLst>
    <p:notesMasterId xmlns:r="http://schemas.openxmlformats.org/officeDocument/2006/relationships" r:id="R3fd59b5f76bc4269"/>
  </p:notesMasterIdLst>
  <p:sldIdLst>
    <p:sldId xmlns:r="http://schemas.openxmlformats.org/officeDocument/2006/relationships" id="256" r:id="R952969128c3b4856"/>
    <p:sldId xmlns:r="http://schemas.openxmlformats.org/officeDocument/2006/relationships" id="257" r:id="R45f6521054d54277"/>
    <p:sldId xmlns:r="http://schemas.openxmlformats.org/officeDocument/2006/relationships" id="258" r:id="Receee48ef2fc48fb"/>
    <p:sldId xmlns:r="http://schemas.openxmlformats.org/officeDocument/2006/relationships" id="259" r:id="R81088c0f16764dbc"/>
    <p:sldId xmlns:r="http://schemas.openxmlformats.org/officeDocument/2006/relationships" id="260" r:id="R0ce3397fcdec492a"/>
    <p:sldId xmlns:r="http://schemas.openxmlformats.org/officeDocument/2006/relationships" id="261" r:id="Rae7e48fea38b451b"/>
    <p:sldId xmlns:r="http://schemas.openxmlformats.org/officeDocument/2006/relationships" id="262" r:id="Rc8b90d462cbb4395"/>
    <p:sldId xmlns:r="http://schemas.openxmlformats.org/officeDocument/2006/relationships" id="263" r:id="Rdfdc3d16167b499a"/>
    <p:sldId xmlns:r="http://schemas.openxmlformats.org/officeDocument/2006/relationships" id="264" r:id="R2fbdb2509c624da9"/>
    <p:sldId xmlns:r="http://schemas.openxmlformats.org/officeDocument/2006/relationships" id="265" r:id="R6927440506e540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e463f1664744dc" /><Relationship Type="http://schemas.openxmlformats.org/officeDocument/2006/relationships/slideMaster" Target="/ppt/slideMasters/slideMaster1.xml" Id="R05bda878e8b34334" /><Relationship Type="http://schemas.openxmlformats.org/officeDocument/2006/relationships/notesMaster" Target="/ppt/notesMasters/notesMaster1.xml" Id="R3fd59b5f76bc4269" /><Relationship Type="http://schemas.openxmlformats.org/officeDocument/2006/relationships/presProps" Target="/ppt/presProps.xml" Id="Rcb974fa5fd9c4621" /><Relationship Type="http://schemas.openxmlformats.org/officeDocument/2006/relationships/tableStyles" Target="/ppt/tableStyles.xml" Id="R1c432c2b0e5746fb" /><Relationship Type="http://schemas.openxmlformats.org/officeDocument/2006/relationships/slide" Target="/ppt/slides/slide1.xml" Id="R952969128c3b4856" /><Relationship Type="http://schemas.openxmlformats.org/officeDocument/2006/relationships/slide" Target="/ppt/slides/slide2.xml" Id="R45f6521054d54277" /><Relationship Type="http://schemas.openxmlformats.org/officeDocument/2006/relationships/slide" Target="/ppt/slides/slide3.xml" Id="Receee48ef2fc48fb" /><Relationship Type="http://schemas.openxmlformats.org/officeDocument/2006/relationships/slide" Target="/ppt/slides/slide4.xml" Id="R81088c0f16764dbc" /><Relationship Type="http://schemas.openxmlformats.org/officeDocument/2006/relationships/slide" Target="/ppt/slides/slide5.xml" Id="R0ce3397fcdec492a" /><Relationship Type="http://schemas.openxmlformats.org/officeDocument/2006/relationships/slide" Target="/ppt/slides/slide6.xml" Id="Rae7e48fea38b451b" /><Relationship Type="http://schemas.openxmlformats.org/officeDocument/2006/relationships/slide" Target="/ppt/slides/slide7.xml" Id="Rc8b90d462cbb4395" /><Relationship Type="http://schemas.openxmlformats.org/officeDocument/2006/relationships/slide" Target="/ppt/slides/slide8.xml" Id="Rdfdc3d16167b499a" /><Relationship Type="http://schemas.openxmlformats.org/officeDocument/2006/relationships/slide" Target="/ppt/slides/slide9.xml" Id="R2fbdb2509c624da9" /><Relationship Type="http://schemas.openxmlformats.org/officeDocument/2006/relationships/slide" Target="/ppt/slides/slide10.xml" Id="R6927440506e540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39819feec745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e1048758cf492f" /><Relationship Type="http://schemas.openxmlformats.org/officeDocument/2006/relationships/notesMaster" Target="/ppt/notesMasters/notesMaster1.xml" Id="Rde598013c46f4f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7a9e50b59349e5" /><Relationship Type="http://schemas.openxmlformats.org/officeDocument/2006/relationships/notesMaster" Target="/ppt/notesMasters/notesMaster1.xml" Id="R06ce6dfb7d384c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bba0c88efc448d" /><Relationship Type="http://schemas.openxmlformats.org/officeDocument/2006/relationships/notesMaster" Target="/ppt/notesMasters/notesMaster1.xml" Id="R4304ddb39f5d42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e7dd05f9504635" /><Relationship Type="http://schemas.openxmlformats.org/officeDocument/2006/relationships/notesMaster" Target="/ppt/notesMasters/notesMaster1.xml" Id="R6058048800dd4b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6b82cb979b47d3" /><Relationship Type="http://schemas.openxmlformats.org/officeDocument/2006/relationships/notesMaster" Target="/ppt/notesMasters/notesMaster1.xml" Id="R00d2e76f8b1f4e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5e50ce391e46ac" /><Relationship Type="http://schemas.openxmlformats.org/officeDocument/2006/relationships/notesMaster" Target="/ppt/notesMasters/notesMaster1.xml" Id="R21d8297cf3024f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14533810484368" /><Relationship Type="http://schemas.openxmlformats.org/officeDocument/2006/relationships/notesMaster" Target="/ppt/notesMasters/notesMaster1.xml" Id="R630f5ac6d91340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556fbb409745cd" /><Relationship Type="http://schemas.openxmlformats.org/officeDocument/2006/relationships/notesMaster" Target="/ppt/notesMasters/notesMaster1.xml" Id="R04c76944e12c4c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0a89a1bf964090" /><Relationship Type="http://schemas.openxmlformats.org/officeDocument/2006/relationships/notesMaster" Target="/ppt/notesMasters/notesMaster1.xml" Id="Rc6cf063e318841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ccddf2b5414302" /><Relationship Type="http://schemas.openxmlformats.org/officeDocument/2006/relationships/notesMaster" Target="/ppt/notesMasters/notesMaster1.xml" Id="R55c00de532e74a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938ccad1846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73e90816544cac" /><Relationship Type="http://schemas.openxmlformats.org/officeDocument/2006/relationships/slideLayout" Target="/ppt/slideLayouts/slideLayout1.xml" Id="Rfd4e8a0d156c42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4e8a0d156c42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9e391c1624c2c" /><Relationship Type="http://schemas.openxmlformats.org/officeDocument/2006/relationships/image" Target="/ppt/media/image.png" Id="R8f295251623c4699" /><Relationship Type="http://schemas.openxmlformats.org/officeDocument/2006/relationships/notesSlide" Target="/ppt/notesSlides/notesSlide1.xml" Id="Rbc540abdb4de46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1f3afe9c54e20" /><Relationship Type="http://schemas.openxmlformats.org/officeDocument/2006/relationships/image" Target="/ppt/media/image2.png" Id="R4d71cd469d334ca8" /><Relationship Type="http://schemas.openxmlformats.org/officeDocument/2006/relationships/notesSlide" Target="/ppt/notesSlides/notesSlide2.xml" Id="R5749022cae3b41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b58b926bf42d7" /><Relationship Type="http://schemas.openxmlformats.org/officeDocument/2006/relationships/image" Target="/ppt/media/image3.png" Id="R5403b87dbf0b47ee" /><Relationship Type="http://schemas.openxmlformats.org/officeDocument/2006/relationships/notesSlide" Target="/ppt/notesSlides/notesSlide3.xml" Id="Rf01d579d67ff42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d54f2b6694cd1" /><Relationship Type="http://schemas.openxmlformats.org/officeDocument/2006/relationships/image" Target="/ppt/media/image4.png" Id="R4cb2248d87444b67" /><Relationship Type="http://schemas.openxmlformats.org/officeDocument/2006/relationships/notesSlide" Target="/ppt/notesSlides/notesSlide4.xml" Id="R471b0266cbd94c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b1aa0aa964dd3" /><Relationship Type="http://schemas.openxmlformats.org/officeDocument/2006/relationships/image" Target="/ppt/media/image5.png" Id="R8e280d27ac2c48d4" /><Relationship Type="http://schemas.openxmlformats.org/officeDocument/2006/relationships/notesSlide" Target="/ppt/notesSlides/notesSlide5.xml" Id="R497a558e641148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ab8234a494fe7" /><Relationship Type="http://schemas.openxmlformats.org/officeDocument/2006/relationships/image" Target="/ppt/media/image6.png" Id="Re1f0c132996449e8" /><Relationship Type="http://schemas.openxmlformats.org/officeDocument/2006/relationships/notesSlide" Target="/ppt/notesSlides/notesSlide6.xml" Id="R9bfcd33231ed47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b26f472324630" /><Relationship Type="http://schemas.openxmlformats.org/officeDocument/2006/relationships/image" Target="/ppt/media/image7.png" Id="R825fcf7222c548de" /><Relationship Type="http://schemas.openxmlformats.org/officeDocument/2006/relationships/notesSlide" Target="/ppt/notesSlides/notesSlide7.xml" Id="Re6f073b0698741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95b1c29f34165" /><Relationship Type="http://schemas.openxmlformats.org/officeDocument/2006/relationships/image" Target="/ppt/media/image8.png" Id="R89ccf9374c694d6f" /><Relationship Type="http://schemas.openxmlformats.org/officeDocument/2006/relationships/notesSlide" Target="/ppt/notesSlides/notesSlide8.xml" Id="Rc644ad8f3c6044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0ea25b2844206" /><Relationship Type="http://schemas.openxmlformats.org/officeDocument/2006/relationships/image" Target="/ppt/media/image9.png" Id="R89b1b0564c6f4458" /><Relationship Type="http://schemas.openxmlformats.org/officeDocument/2006/relationships/notesSlide" Target="/ppt/notesSlides/notesSlide9.xml" Id="Rfeb0c06ee72e4e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a11cd2ebf42ad" /><Relationship Type="http://schemas.openxmlformats.org/officeDocument/2006/relationships/image" Target="/ppt/media/image10.png" Id="R93789fc65cb34262" /><Relationship Type="http://schemas.openxmlformats.org/officeDocument/2006/relationships/notesSlide" Target="/ppt/notesSlides/notesSlide10.xml" Id="Ra6fb83cd9f524d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FB767D9-A4B6-4295-A47B-7BF44A9F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F4D28"/>
                </a:solidFill>
              </a:defRPr>
            </a:pPr>
            <a:r>
              <a:rPr sz="1050" b="1">
                <a:solidFill>
                  <a:srgbClr val="6F4D28"/>
                </a:solidFill>
              </a:rPr>
              <a:t>1 / 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00AA93-C41E-44B1-B671-B28CE918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026"/>
                </a:solidFill>
              </a:defRPr>
            </a:pPr>
            <a:r>
              <a:rPr sz="2550" b="1">
                <a:solidFill>
                  <a:srgbClr val="182026"/>
                </a:solidFill>
              </a:rPr>
              <a:t>Table Order MVP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307899D-E761-4133-BBD1-321FE74D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5B62"/>
                </a:solidFill>
              </a:defRPr>
            </a:pPr>
            <a:r>
              <a:rPr sz="1350">
                <a:solidFill>
                  <a:srgbClr val="4F5B62"/>
                </a:solidFill>
              </a:rPr>
              <a:t>고객 주문과 관리자 운영을 한 흐름에서 확인하는 테이블 주문 프로토타입</a:t>
            </a:r>
          </a:p>
        </p:txBody>
      </p:sp>
      <p:sp>
        <p:nvSpPr>
          <p:cNvPr id="4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A9875CEA-5635-475C-A5A3-2511D5B7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66900"/>
            <a:ext cx="10839450" cy="3990975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95251623c4699"/>
          <a:stretch xmlns:a="http://schemas.openxmlformats.org/drawingml/2006/main"/>
        </p:blipFill>
        <p:spPr>
          <a:xfrm xmlns:a="http://schemas.openxmlformats.org/drawingml/2006/main">
            <a:off x="2766975" y="1990725"/>
            <a:ext cx="6658049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note">
            <a:extLst xmlns:a="http://schemas.openxmlformats.org/drawingml/2006/main">
              <a:ext uri="{FF2B5EF4-FFF2-40B4-BE49-F238E27FC236}">
                <a16:creationId xmlns:a16="http://schemas.microsoft.com/office/drawing/2014/main" id="{3435DC5B-F8E3-4E0B-8CBA-5C1815D4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4D28"/>
                </a:solidFill>
              </a:defRPr>
            </a:pPr>
            <a:r>
              <a:rPr sz="1200">
                <a:solidFill>
                  <a:srgbClr val="6F4D28"/>
                </a:solidFill>
              </a:rPr>
              <a:t>첫 화면에서 고객 주문과 관리자 운영 진입점을 분리합니다.</a:t>
            </a:r>
          </a:p>
        </p:txBody>
      </p:sp>
    </p:spTree>
    <p:extLst>
      <p:ext uri="{BB962C8B-B14F-4D97-AF65-F5344CB8AC3E}">
        <p14:creationId xmlns:p14="http://schemas.microsoft.com/office/powerpoint/2010/main" val="1398681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7ECF43E-7DC8-47F3-B53D-AD0629CA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F4D28"/>
                </a:solidFill>
              </a:defRPr>
            </a:pPr>
            <a:r>
              <a:rPr sz="1050" b="1">
                <a:solidFill>
                  <a:srgbClr val="6F4D28"/>
                </a:solidFill>
              </a:rPr>
              <a:t>2 / 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229C943-4772-45DE-9CE1-542D8F88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026"/>
                </a:solidFill>
              </a:defRPr>
            </a:pPr>
            <a:r>
              <a:rPr sz="2550" b="1">
                <a:solidFill>
                  <a:srgbClr val="182026"/>
                </a:solidFill>
              </a:rPr>
              <a:t>고객 테이블 설정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D8D3401-5A45-4717-BF4E-E10AB7B3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5B62"/>
                </a:solidFill>
              </a:defRPr>
            </a:pPr>
            <a:r>
              <a:rPr sz="1350">
                <a:solidFill>
                  <a:srgbClr val="4F5B62"/>
                </a:solidFill>
              </a:rPr>
              <a:t>매장 코드와 테이블 비밀번호로 고객의 주문 세션을 시작합니다.</a:t>
            </a:r>
          </a:p>
        </p:txBody>
      </p:sp>
      <p:sp>
        <p:nvSpPr>
          <p:cNvPr id="4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A2F61B50-A36C-456A-A49B-962F5F20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66900"/>
            <a:ext cx="10839450" cy="3990975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1cd469d334ca8"/>
          <a:stretch xmlns:a="http://schemas.openxmlformats.org/drawingml/2006/main"/>
        </p:blipFill>
        <p:spPr>
          <a:xfrm xmlns:a="http://schemas.openxmlformats.org/drawingml/2006/main">
            <a:off x="2766975" y="1990725"/>
            <a:ext cx="6658049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note">
            <a:extLst xmlns:a="http://schemas.openxmlformats.org/drawingml/2006/main">
              <a:ext uri="{FF2B5EF4-FFF2-40B4-BE49-F238E27FC236}">
                <a16:creationId xmlns:a16="http://schemas.microsoft.com/office/drawing/2014/main" id="{51322057-055C-4288-B37C-2DCD9923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4D28"/>
                </a:solidFill>
              </a:defRPr>
            </a:pPr>
            <a:r>
              <a:rPr sz="1200">
                <a:solidFill>
                  <a:srgbClr val="6F4D28"/>
                </a:solidFill>
              </a:rPr>
              <a:t>데모 입력값은 demo-store, 1번 테이블, table-1입니다.</a:t>
            </a:r>
          </a:p>
        </p:txBody>
      </p:sp>
    </p:spTree>
    <p:extLst>
      <p:ext uri="{BB962C8B-B14F-4D97-AF65-F5344CB8AC3E}">
        <p14:creationId xmlns:p14="http://schemas.microsoft.com/office/powerpoint/2010/main" val="1708112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6AF068B-116D-4D1A-9257-7297D89C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F4D28"/>
                </a:solidFill>
              </a:defRPr>
            </a:pPr>
            <a:r>
              <a:rPr sz="1050" b="1">
                <a:solidFill>
                  <a:srgbClr val="6F4D28"/>
                </a:solidFill>
              </a:rPr>
              <a:t>3 / 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514EBA-5DC9-4082-8443-CA740E0E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026"/>
                </a:solidFill>
              </a:defRPr>
            </a:pPr>
            <a:r>
              <a:rPr sz="2550" b="1">
                <a:solidFill>
                  <a:srgbClr val="182026"/>
                </a:solidFill>
              </a:rPr>
              <a:t>고객 메뉴 탐색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6437DCF-98F5-4A80-A792-49DBDE50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5B62"/>
                </a:solidFill>
              </a:defRPr>
            </a:pPr>
            <a:r>
              <a:rPr sz="1350">
                <a:solidFill>
                  <a:srgbClr val="4F5B62"/>
                </a:solidFill>
              </a:rPr>
              <a:t>카테고리별 메뉴를 확인하고 장바구니에 담습니다.</a:t>
            </a:r>
          </a:p>
        </p:txBody>
      </p:sp>
      <p:sp>
        <p:nvSpPr>
          <p:cNvPr id="4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59187A24-CC63-42D8-85D5-F430ACDC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66900"/>
            <a:ext cx="10839450" cy="3990975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3b87dbf0b47ee"/>
          <a:stretch xmlns:a="http://schemas.openxmlformats.org/drawingml/2006/main"/>
        </p:blipFill>
        <p:spPr>
          <a:xfrm xmlns:a="http://schemas.openxmlformats.org/drawingml/2006/main">
            <a:off x="2766975" y="1990725"/>
            <a:ext cx="6658049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note">
            <a:extLst xmlns:a="http://schemas.openxmlformats.org/drawingml/2006/main">
              <a:ext uri="{FF2B5EF4-FFF2-40B4-BE49-F238E27FC236}">
                <a16:creationId xmlns:a16="http://schemas.microsoft.com/office/drawing/2014/main" id="{2859EF96-4A3A-43DE-97E8-13C1C21F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4D28"/>
                </a:solidFill>
              </a:defRPr>
            </a:pPr>
            <a:r>
              <a:rPr sz="1200">
                <a:solidFill>
                  <a:srgbClr val="6F4D28"/>
                </a:solidFill>
              </a:rPr>
              <a:t>메뉴 seed data로 식사, 음료, 사이드 카테고리를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1455592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77ECAE0-D16F-44DE-A438-9777E179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F4D28"/>
                </a:solidFill>
              </a:defRPr>
            </a:pPr>
            <a:r>
              <a:rPr sz="1050" b="1">
                <a:solidFill>
                  <a:srgbClr val="6F4D28"/>
                </a:solidFill>
              </a:rPr>
              <a:t>4 / 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5DD2092-525E-4EB3-823B-3062099A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026"/>
                </a:solidFill>
              </a:defRPr>
            </a:pPr>
            <a:r>
              <a:rPr sz="2550" b="1">
                <a:solidFill>
                  <a:srgbClr val="182026"/>
                </a:solidFill>
              </a:rPr>
              <a:t>고객 장바구니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B0A86C0-366E-4FA5-A4EF-9D23169A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5B62"/>
                </a:solidFill>
              </a:defRPr>
            </a:pPr>
            <a:r>
              <a:rPr sz="1350">
                <a:solidFill>
                  <a:srgbClr val="4F5B62"/>
                </a:solidFill>
              </a:rPr>
              <a:t>수량 조정과 총액 확인 후 주문을 제출합니다.</a:t>
            </a:r>
          </a:p>
        </p:txBody>
      </p:sp>
      <p:sp>
        <p:nvSpPr>
          <p:cNvPr id="4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5D3D1866-5820-483E-AE33-2EA5B122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66900"/>
            <a:ext cx="10839450" cy="3990975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2248d87444b67"/>
          <a:stretch xmlns:a="http://schemas.openxmlformats.org/drawingml/2006/main"/>
        </p:blipFill>
        <p:spPr>
          <a:xfrm xmlns:a="http://schemas.openxmlformats.org/drawingml/2006/main">
            <a:off x="2766975" y="1990725"/>
            <a:ext cx="6658049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note">
            <a:extLst xmlns:a="http://schemas.openxmlformats.org/drawingml/2006/main">
              <a:ext uri="{FF2B5EF4-FFF2-40B4-BE49-F238E27FC236}">
                <a16:creationId xmlns:a16="http://schemas.microsoft.com/office/drawing/2014/main" id="{E0E9FA66-F3B7-461B-BF42-00D6E535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4D28"/>
                </a:solidFill>
              </a:defRPr>
            </a:pPr>
            <a:r>
              <a:rPr sz="1200">
                <a:solidFill>
                  <a:srgbClr val="6F4D28"/>
                </a:solidFill>
              </a:rPr>
              <a:t>장바구니 총액은 line total 합과 일치하도록 검증됩니다.</a:t>
            </a:r>
          </a:p>
        </p:txBody>
      </p:sp>
    </p:spTree>
    <p:extLst>
      <p:ext uri="{BB962C8B-B14F-4D97-AF65-F5344CB8AC3E}">
        <p14:creationId xmlns:p14="http://schemas.microsoft.com/office/powerpoint/2010/main" val="270958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74FA07E-92BC-46F3-9F48-45AC5F69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F4D28"/>
                </a:solidFill>
              </a:defRPr>
            </a:pPr>
            <a:r>
              <a:rPr sz="1050" b="1">
                <a:solidFill>
                  <a:srgbClr val="6F4D28"/>
                </a:solidFill>
              </a:rPr>
              <a:t>5 / 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4BC9D8-8698-41AC-BB35-AEF1776B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026"/>
                </a:solidFill>
              </a:defRPr>
            </a:pPr>
            <a:r>
              <a:rPr sz="2550" b="1">
                <a:solidFill>
                  <a:srgbClr val="182026"/>
                </a:solidFill>
              </a:rPr>
              <a:t>고객 주문 내역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0A76B69-0093-42F4-B149-8B3622A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5B62"/>
                </a:solidFill>
              </a:defRPr>
            </a:pPr>
            <a:r>
              <a:rPr sz="1350">
                <a:solidFill>
                  <a:srgbClr val="4F5B62"/>
                </a:solidFill>
              </a:rPr>
              <a:t>현재 테이블 세션에서 제출한 주문을 확인합니다.</a:t>
            </a:r>
          </a:p>
        </p:txBody>
      </p:sp>
      <p:sp>
        <p:nvSpPr>
          <p:cNvPr id="4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EDA72BB0-733E-4EBC-9FA5-5046573F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66900"/>
            <a:ext cx="10839450" cy="3990975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80d27ac2c48d4"/>
          <a:stretch xmlns:a="http://schemas.openxmlformats.org/drawingml/2006/main"/>
        </p:blipFill>
        <p:spPr>
          <a:xfrm xmlns:a="http://schemas.openxmlformats.org/drawingml/2006/main">
            <a:off x="2766975" y="1990725"/>
            <a:ext cx="6658049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note">
            <a:extLst xmlns:a="http://schemas.openxmlformats.org/drawingml/2006/main">
              <a:ext uri="{FF2B5EF4-FFF2-40B4-BE49-F238E27FC236}">
                <a16:creationId xmlns:a16="http://schemas.microsoft.com/office/drawing/2014/main" id="{38EDF32D-3E01-4AE6-931C-3BB5A041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4D28"/>
                </a:solidFill>
              </a:defRPr>
            </a:pPr>
            <a:r>
              <a:rPr sz="1200">
                <a:solidFill>
                  <a:srgbClr val="6F4D28"/>
                </a:solidFill>
              </a:rPr>
              <a:t>주문 제출 후 현재 세션 주문 목록이 표시됩니다.</a:t>
            </a:r>
          </a:p>
        </p:txBody>
      </p:sp>
    </p:spTree>
    <p:extLst>
      <p:ext uri="{BB962C8B-B14F-4D97-AF65-F5344CB8AC3E}">
        <p14:creationId xmlns:p14="http://schemas.microsoft.com/office/powerpoint/2010/main" val="4386098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B46EB53-7E8A-4247-AE21-E75309B8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F4D28"/>
                </a:solidFill>
              </a:defRPr>
            </a:pPr>
            <a:r>
              <a:rPr sz="1050" b="1">
                <a:solidFill>
                  <a:srgbClr val="6F4D28"/>
                </a:solidFill>
              </a:rPr>
              <a:t>6 / 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A3EA259-F510-4337-A519-EA86B937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026"/>
                </a:solidFill>
              </a:defRPr>
            </a:pPr>
            <a:r>
              <a:rPr sz="2550" b="1">
                <a:solidFill>
                  <a:srgbClr val="182026"/>
                </a:solidFill>
              </a:rPr>
              <a:t>관리자 로그인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B3856A2-935C-4230-A08E-E3A09984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5B62"/>
                </a:solidFill>
              </a:defRPr>
            </a:pPr>
            <a:r>
              <a:rPr sz="1350">
                <a:solidFill>
                  <a:srgbClr val="4F5B62"/>
                </a:solidFill>
              </a:rPr>
              <a:t>데모 관리자 계정으로 운영 화면에 접근합니다.</a:t>
            </a:r>
          </a:p>
        </p:txBody>
      </p:sp>
      <p:sp>
        <p:nvSpPr>
          <p:cNvPr id="4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B46DF00C-ECF6-4960-B087-455BFAF7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66900"/>
            <a:ext cx="10839450" cy="3990975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0c132996449e8"/>
          <a:stretch xmlns:a="http://schemas.openxmlformats.org/drawingml/2006/main"/>
        </p:blipFill>
        <p:spPr>
          <a:xfrm xmlns:a="http://schemas.openxmlformats.org/drawingml/2006/main">
            <a:off x="2766975" y="1990725"/>
            <a:ext cx="6658049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note">
            <a:extLst xmlns:a="http://schemas.openxmlformats.org/drawingml/2006/main">
              <a:ext uri="{FF2B5EF4-FFF2-40B4-BE49-F238E27FC236}">
                <a16:creationId xmlns:a16="http://schemas.microsoft.com/office/drawing/2014/main" id="{EA474830-0329-45DF-AC57-EC391775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4D28"/>
                </a:solidFill>
              </a:defRPr>
            </a:pPr>
            <a:r>
              <a:rPr sz="1200">
                <a:solidFill>
                  <a:srgbClr val="6F4D28"/>
                </a:solidFill>
              </a:rPr>
              <a:t>데모 입력값은 demo-store, admin입니다.</a:t>
            </a:r>
          </a:p>
        </p:txBody>
      </p:sp>
    </p:spTree>
    <p:extLst>
      <p:ext uri="{BB962C8B-B14F-4D97-AF65-F5344CB8AC3E}">
        <p14:creationId xmlns:p14="http://schemas.microsoft.com/office/powerpoint/2010/main" val="14434176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95B784A-05F6-4D0E-A74C-8B66B49C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F4D28"/>
                </a:solidFill>
              </a:defRPr>
            </a:pPr>
            <a:r>
              <a:rPr sz="1050" b="1">
                <a:solidFill>
                  <a:srgbClr val="6F4D28"/>
                </a:solidFill>
              </a:rPr>
              <a:t>7 / 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B03A01-F3D4-4ED2-9779-81BEA51A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026"/>
                </a:solidFill>
              </a:defRPr>
            </a:pPr>
            <a:r>
              <a:rPr sz="2550" b="1">
                <a:solidFill>
                  <a:srgbClr val="182026"/>
                </a:solidFill>
              </a:rPr>
              <a:t>관리자 대시보드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828DFE9-5A09-4DED-91EB-E0C53E66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5B62"/>
                </a:solidFill>
              </a:defRPr>
            </a:pPr>
            <a:r>
              <a:rPr sz="1350">
                <a:solidFill>
                  <a:srgbClr val="4F5B62"/>
                </a:solidFill>
              </a:rPr>
              <a:t>테이블별 실시간 주문 현황과 주문 상태를 관리합니다.</a:t>
            </a:r>
          </a:p>
        </p:txBody>
      </p:sp>
      <p:sp>
        <p:nvSpPr>
          <p:cNvPr id="4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3B7C2AD1-E956-4550-81EA-EC8B66C6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66900"/>
            <a:ext cx="10839450" cy="3990975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fcf7222c548de"/>
          <a:stretch xmlns:a="http://schemas.openxmlformats.org/drawingml/2006/main"/>
        </p:blipFill>
        <p:spPr>
          <a:xfrm xmlns:a="http://schemas.openxmlformats.org/drawingml/2006/main">
            <a:off x="2766975" y="1990725"/>
            <a:ext cx="6658049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note">
            <a:extLst xmlns:a="http://schemas.openxmlformats.org/drawingml/2006/main">
              <a:ext uri="{FF2B5EF4-FFF2-40B4-BE49-F238E27FC236}">
                <a16:creationId xmlns:a16="http://schemas.microsoft.com/office/drawing/2014/main" id="{4FFB2C48-0149-4A42-A15E-D459343C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4D28"/>
                </a:solidFill>
              </a:defRPr>
            </a:pPr>
            <a:r>
              <a:rPr sz="1200">
                <a:solidFill>
                  <a:srgbClr val="6F4D28"/>
                </a:solidFill>
              </a:rPr>
              <a:t>SSE 기반 realtime event와 snapshot reload를 함께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278593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C79AE3-26A6-4EFE-BF60-AFB83CE4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F4D28"/>
                </a:solidFill>
              </a:defRPr>
            </a:pPr>
            <a:r>
              <a:rPr sz="1050" b="1">
                <a:solidFill>
                  <a:srgbClr val="6F4D28"/>
                </a:solidFill>
              </a:rPr>
              <a:t>8 / 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5C0775-C0D7-4778-AEF0-18C36464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026"/>
                </a:solidFill>
              </a:defRPr>
            </a:pPr>
            <a:r>
              <a:rPr sz="2550" b="1">
                <a:solidFill>
                  <a:srgbClr val="182026"/>
                </a:solidFill>
              </a:rPr>
              <a:t>테이블 관리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7DAF83E-895E-4721-A0E7-F0BC4064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5B62"/>
                </a:solidFill>
              </a:defRPr>
            </a:pPr>
            <a:r>
              <a:rPr sz="1350">
                <a:solidFill>
                  <a:srgbClr val="4F5B62"/>
                </a:solidFill>
              </a:rPr>
              <a:t>테이블 비밀번호와 세션 완료 처리를 관리합니다.</a:t>
            </a:r>
          </a:p>
        </p:txBody>
      </p:sp>
      <p:sp>
        <p:nvSpPr>
          <p:cNvPr id="4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1E916B94-42E5-429A-8B10-C0D74D3D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66900"/>
            <a:ext cx="10839450" cy="3990975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cf9374c694d6f"/>
          <a:stretch xmlns:a="http://schemas.openxmlformats.org/drawingml/2006/main"/>
        </p:blipFill>
        <p:spPr>
          <a:xfrm xmlns:a="http://schemas.openxmlformats.org/drawingml/2006/main">
            <a:off x="2766975" y="1990725"/>
            <a:ext cx="6658049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note">
            <a:extLst xmlns:a="http://schemas.openxmlformats.org/drawingml/2006/main">
              <a:ext uri="{FF2B5EF4-FFF2-40B4-BE49-F238E27FC236}">
                <a16:creationId xmlns:a16="http://schemas.microsoft.com/office/drawing/2014/main" id="{82F87CF7-897C-477F-8FD5-30B281AA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4D28"/>
                </a:solidFill>
              </a:defRPr>
            </a:pPr>
            <a:r>
              <a:rPr sz="1200">
                <a:solidFill>
                  <a:srgbClr val="6F4D28"/>
                </a:solidFill>
              </a:rPr>
              <a:t>테이블 완료 시 active dashboard 주문에서 제외됩니다.</a:t>
            </a:r>
          </a:p>
        </p:txBody>
      </p:sp>
    </p:spTree>
    <p:extLst>
      <p:ext uri="{BB962C8B-B14F-4D97-AF65-F5344CB8AC3E}">
        <p14:creationId xmlns:p14="http://schemas.microsoft.com/office/powerpoint/2010/main" val="7454003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E49809-0212-40BE-A041-BE1ADBC4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F4D28"/>
                </a:solidFill>
              </a:defRPr>
            </a:pPr>
            <a:r>
              <a:rPr sz="1050" b="1">
                <a:solidFill>
                  <a:srgbClr val="6F4D28"/>
                </a:solidFill>
              </a:rPr>
              <a:t>9 / 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FAE094E-512F-4A5F-B6E6-6798A7E3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026"/>
                </a:solidFill>
              </a:defRPr>
            </a:pPr>
            <a:r>
              <a:rPr sz="2550" b="1">
                <a:solidFill>
                  <a:srgbClr val="182026"/>
                </a:solidFill>
              </a:rPr>
              <a:t>메뉴 관리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7D0DE7B-3C04-483D-AAF1-F73AA7C6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5B62"/>
                </a:solidFill>
              </a:defRPr>
            </a:pPr>
            <a:r>
              <a:rPr sz="1350">
                <a:solidFill>
                  <a:srgbClr val="4F5B62"/>
                </a:solidFill>
              </a:rPr>
              <a:t>메뉴 등록, 수정, 삭제, 순서 변경을 수행합니다.</a:t>
            </a:r>
          </a:p>
        </p:txBody>
      </p:sp>
      <p:sp>
        <p:nvSpPr>
          <p:cNvPr id="4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301791F0-5B5A-47E6-A19A-B2CCCFA2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66900"/>
            <a:ext cx="10839450" cy="3990975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1b0564c6f4458"/>
          <a:stretch xmlns:a="http://schemas.openxmlformats.org/drawingml/2006/main"/>
        </p:blipFill>
        <p:spPr>
          <a:xfrm xmlns:a="http://schemas.openxmlformats.org/drawingml/2006/main">
            <a:off x="2766975" y="1990725"/>
            <a:ext cx="6658049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note">
            <a:extLst xmlns:a="http://schemas.openxmlformats.org/drawingml/2006/main">
              <a:ext uri="{FF2B5EF4-FFF2-40B4-BE49-F238E27FC236}">
                <a16:creationId xmlns:a16="http://schemas.microsoft.com/office/drawing/2014/main" id="{A1393967-2B1B-4ABD-990E-5ECE176C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4D28"/>
                </a:solidFill>
              </a:defRPr>
            </a:pPr>
            <a:r>
              <a:rPr sz="1200">
                <a:solidFill>
                  <a:srgbClr val="6F4D28"/>
                </a:solidFill>
              </a:rPr>
              <a:t>메뉴 운영 흐름은 관리자 전용 화면에서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906105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B6CF058-3D18-4EB7-B316-6A256F74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F4D28"/>
                </a:solidFill>
              </a:defRPr>
            </a:pPr>
            <a:r>
              <a:rPr sz="1050" b="1">
                <a:solidFill>
                  <a:srgbClr val="6F4D28"/>
                </a:solidFill>
              </a:rPr>
              <a:t>10 / 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31EC3C5-7ED4-462C-B622-757A44A6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026"/>
                </a:solidFill>
              </a:defRPr>
            </a:pPr>
            <a:r>
              <a:rPr sz="2550" b="1">
                <a:solidFill>
                  <a:srgbClr val="182026"/>
                </a:solidFill>
              </a:rPr>
              <a:t>주문 이력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B43FE6-2313-4DE6-ACCA-719D13B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5B62"/>
                </a:solidFill>
              </a:defRPr>
            </a:pPr>
            <a:r>
              <a:rPr sz="1350">
                <a:solidFill>
                  <a:srgbClr val="4F5B62"/>
                </a:solidFill>
              </a:rPr>
              <a:t>테이블과 기간 기준으로 과거 주문을 조회합니다.</a:t>
            </a:r>
          </a:p>
        </p:txBody>
      </p:sp>
      <p:sp>
        <p:nvSpPr>
          <p:cNvPr id="4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557F11FF-FD28-4A76-A5C0-DA523E92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66900"/>
            <a:ext cx="10839450" cy="3990975"/>
          </a:xfrm>
          <a:prstGeom xmlns:a="http://schemas.openxmlformats.org/drawingml/2006/main" prst="roundRect">
            <a:avLst>
              <a:gd name="adj" fmla="val 2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D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89fc65cb34262"/>
          <a:stretch xmlns:a="http://schemas.openxmlformats.org/drawingml/2006/main"/>
        </p:blipFill>
        <p:spPr>
          <a:xfrm xmlns:a="http://schemas.openxmlformats.org/drawingml/2006/main">
            <a:off x="2766975" y="1990725"/>
            <a:ext cx="6658049" cy="3743325"/>
          </a:xfrm>
          <a:prstGeom xmlns:a="http://schemas.openxmlformats.org/drawingml/2006/main" prst="rect">
            <a:avLst/>
          </a:prstGeom>
        </p:spPr>
      </p:pic>
      <p:sp>
        <p:nvSpPr>
          <p:cNvPr id="6" name="note">
            <a:extLst xmlns:a="http://schemas.openxmlformats.org/drawingml/2006/main">
              <a:ext uri="{FF2B5EF4-FFF2-40B4-BE49-F238E27FC236}">
                <a16:creationId xmlns:a16="http://schemas.microsoft.com/office/drawing/2014/main" id="{4657B062-215B-4856-8BF1-566444CA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4D28"/>
                </a:solidFill>
              </a:defRPr>
            </a:pPr>
            <a:r>
              <a:rPr sz="1200">
                <a:solidFill>
                  <a:srgbClr val="6F4D28"/>
                </a:solidFill>
              </a:rPr>
              <a:t>완료된 세션의 주문은 이력 화면에서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780427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2026-07-08T06:54:36.3780000Z</dcterms:created>
  <dcterms:modified xsi:type="dcterms:W3CDTF">2026-07-08T06:54:36.3780000Z</dcterms:modified>
</coreProperties>
</file>